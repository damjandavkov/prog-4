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2C8FD2-C64F-4EBD-AC17-915B99A16F3E}" v="320" dt="2025-11-21T01:38:37.4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onsolas"/>
              </a:rPr>
              <a:t>Push-relabel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D7914-C452-607B-A81C-70D2AA811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err="1">
                <a:latin typeface="Consolas"/>
              </a:rPr>
              <a:t>Опис</a:t>
            </a:r>
            <a:r>
              <a:rPr lang="en-US" sz="4800" dirty="0">
                <a:latin typeface="Consolas"/>
              </a:rPr>
              <a:t> </a:t>
            </a:r>
            <a:r>
              <a:rPr lang="en-US" sz="4800" err="1">
                <a:latin typeface="Consolas"/>
              </a:rPr>
              <a:t>на</a:t>
            </a:r>
            <a:r>
              <a:rPr lang="en-US" sz="4800" dirty="0">
                <a:latin typeface="Consolas"/>
              </a:rPr>
              <a:t> </a:t>
            </a:r>
            <a:r>
              <a:rPr lang="en-US" sz="4800" err="1">
                <a:latin typeface="Consolas"/>
              </a:rPr>
              <a:t>алгоритмот</a:t>
            </a:r>
            <a:endParaRPr lang="en-US" sz="4800">
              <a:latin typeface="Consola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41352-42AB-5EE0-E01F-593BD9B48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0495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3200" dirty="0">
                <a:latin typeface="Consolas"/>
                <a:ea typeface="+mn-lt"/>
                <a:cs typeface="+mn-lt"/>
              </a:rPr>
              <a:t>Push-relabel е </a:t>
            </a:r>
            <a:r>
              <a:rPr lang="en-US" sz="3200" err="1">
                <a:latin typeface="Consolas"/>
                <a:ea typeface="+mn-lt"/>
                <a:cs typeface="+mn-lt"/>
              </a:rPr>
              <a:t>алгоритам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за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пресметување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на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максимален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проток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во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граф</a:t>
            </a:r>
            <a:r>
              <a:rPr lang="en-US" sz="3200" dirty="0">
                <a:latin typeface="Consolas"/>
                <a:ea typeface="+mn-lt"/>
                <a:cs typeface="+mn-lt"/>
              </a:rPr>
              <a:t>. </a:t>
            </a:r>
            <a:r>
              <a:rPr lang="en-US" sz="3200" err="1">
                <a:latin typeface="Consolas"/>
                <a:ea typeface="+mn-lt"/>
                <a:cs typeface="+mn-lt"/>
              </a:rPr>
              <a:t>На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почетокот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на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алгоритмот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се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почнува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со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preflow</a:t>
            </a:r>
            <a:r>
              <a:rPr lang="en-US" sz="3200" dirty="0">
                <a:latin typeface="Consolas"/>
                <a:ea typeface="+mn-lt"/>
                <a:cs typeface="+mn-lt"/>
              </a:rPr>
              <a:t>. </a:t>
            </a:r>
            <a:r>
              <a:rPr lang="en-US" sz="3200" err="1">
                <a:latin typeface="Consolas"/>
                <a:ea typeface="+mn-lt"/>
                <a:cs typeface="+mn-lt"/>
              </a:rPr>
              <a:t>Сѐ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додека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постои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теме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со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остаток</a:t>
            </a:r>
            <a:r>
              <a:rPr lang="en-US" sz="3200" dirty="0">
                <a:latin typeface="Consolas"/>
                <a:ea typeface="+mn-lt"/>
                <a:cs typeface="+mn-lt"/>
              </a:rPr>
              <a:t>, </a:t>
            </a:r>
            <a:r>
              <a:rPr lang="en-US" sz="3200" err="1">
                <a:latin typeface="Consolas"/>
                <a:ea typeface="+mn-lt"/>
                <a:cs typeface="+mn-lt"/>
              </a:rPr>
              <a:t>со</a:t>
            </a:r>
            <a:r>
              <a:rPr lang="en-US" sz="3200" dirty="0">
                <a:latin typeface="Consolas"/>
                <a:ea typeface="+mn-lt"/>
                <a:cs typeface="+mn-lt"/>
              </a:rPr>
              <a:t> push </a:t>
            </a:r>
            <a:r>
              <a:rPr lang="en-US" sz="3200" err="1">
                <a:latin typeface="Consolas"/>
                <a:ea typeface="+mn-lt"/>
                <a:cs typeface="+mn-lt"/>
              </a:rPr>
              <a:t>се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пренесува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остатокот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сѐ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додека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може</a:t>
            </a:r>
            <a:r>
              <a:rPr lang="en-US" sz="3200" dirty="0">
                <a:latin typeface="Consolas"/>
                <a:ea typeface="+mn-lt"/>
                <a:cs typeface="+mn-lt"/>
              </a:rPr>
              <a:t>. </a:t>
            </a:r>
            <a:r>
              <a:rPr lang="en-US" sz="3200" err="1">
                <a:latin typeface="Consolas"/>
                <a:ea typeface="+mn-lt"/>
                <a:cs typeface="+mn-lt"/>
              </a:rPr>
              <a:t>Ако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не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може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да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се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пренесе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остатокот</a:t>
            </a:r>
            <a:r>
              <a:rPr lang="en-US" sz="3200" dirty="0">
                <a:latin typeface="Consolas"/>
                <a:ea typeface="+mn-lt"/>
                <a:cs typeface="+mn-lt"/>
              </a:rPr>
              <a:t>, </a:t>
            </a:r>
            <a:r>
              <a:rPr lang="en-US" sz="3200" err="1">
                <a:latin typeface="Consolas"/>
                <a:ea typeface="+mn-lt"/>
                <a:cs typeface="+mn-lt"/>
              </a:rPr>
              <a:t>тогаш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се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извршува</a:t>
            </a:r>
            <a:r>
              <a:rPr lang="en-US" sz="3200" dirty="0">
                <a:latin typeface="Consolas"/>
                <a:ea typeface="+mn-lt"/>
                <a:cs typeface="+mn-lt"/>
              </a:rPr>
              <a:t> relabel </a:t>
            </a:r>
            <a:r>
              <a:rPr lang="en-US" sz="3200" err="1">
                <a:latin typeface="Consolas"/>
                <a:ea typeface="+mn-lt"/>
                <a:cs typeface="+mn-lt"/>
              </a:rPr>
              <a:t>на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тоа</a:t>
            </a:r>
            <a:r>
              <a:rPr lang="en-US" sz="3200" dirty="0">
                <a:latin typeface="Consolas"/>
                <a:ea typeface="+mn-lt"/>
                <a:cs typeface="+mn-lt"/>
              </a:rPr>
              <a:t> </a:t>
            </a:r>
            <a:r>
              <a:rPr lang="en-US" sz="3200" err="1">
                <a:latin typeface="Consolas"/>
                <a:ea typeface="+mn-lt"/>
                <a:cs typeface="+mn-lt"/>
              </a:rPr>
              <a:t>теме</a:t>
            </a:r>
            <a:r>
              <a:rPr lang="en-US" sz="3200" dirty="0">
                <a:latin typeface="Consolas"/>
                <a:ea typeface="+mn-lt"/>
                <a:cs typeface="+mn-lt"/>
              </a:rPr>
              <a:t>.</a:t>
            </a:r>
            <a:endParaRPr lang="en-US" sz="3200" dirty="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370702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0FF826-1AF6-BE73-E5D2-08EF3C40D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" y="4082"/>
            <a:ext cx="12182475" cy="684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669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FEB77-229E-0AA4-2B1A-FC2E0E586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56730" cy="1347649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err="1">
                <a:latin typeface="Consolas"/>
              </a:rPr>
              <a:t>Споредба</a:t>
            </a:r>
            <a:r>
              <a:rPr lang="en-US" sz="4800" dirty="0">
                <a:latin typeface="Consolas"/>
              </a:rPr>
              <a:t> </a:t>
            </a:r>
            <a:r>
              <a:rPr lang="en-US" sz="4800" err="1">
                <a:latin typeface="Consolas"/>
              </a:rPr>
              <a:t>со</a:t>
            </a:r>
            <a:r>
              <a:rPr lang="en-US" sz="4800" dirty="0">
                <a:latin typeface="Consolas"/>
              </a:rPr>
              <a:t> </a:t>
            </a:r>
            <a:r>
              <a:rPr lang="en-US" sz="4800" err="1">
                <a:latin typeface="Consolas"/>
              </a:rPr>
              <a:t>други</a:t>
            </a:r>
            <a:r>
              <a:rPr lang="en-US" sz="4800" dirty="0">
                <a:latin typeface="Consolas"/>
              </a:rPr>
              <a:t> flow </a:t>
            </a:r>
            <a:r>
              <a:rPr lang="en-US" sz="4800" err="1">
                <a:latin typeface="Consolas"/>
              </a:rPr>
              <a:t>алгоритми</a:t>
            </a:r>
            <a:endParaRPr lang="en-US" sz="4800">
              <a:latin typeface="Consola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06CF8-3C3E-A3BF-3B55-ADE1EB8C7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1710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 dirty="0" err="1">
                <a:latin typeface="Consolas"/>
              </a:rPr>
              <a:t>Комплексноста</a:t>
            </a:r>
            <a:r>
              <a:rPr lang="en-US" sz="3200" dirty="0">
                <a:latin typeface="Consolas"/>
              </a:rPr>
              <a:t> </a:t>
            </a:r>
            <a:r>
              <a:rPr lang="en-US" sz="3200" dirty="0" err="1">
                <a:latin typeface="Consolas"/>
              </a:rPr>
              <a:t>на</a:t>
            </a:r>
            <a:r>
              <a:rPr lang="en-US" sz="3200" dirty="0">
                <a:latin typeface="Consolas"/>
              </a:rPr>
              <a:t> </a:t>
            </a:r>
            <a:r>
              <a:rPr lang="en-US" sz="3200" dirty="0" err="1">
                <a:latin typeface="Consolas"/>
              </a:rPr>
              <a:t>овој</a:t>
            </a:r>
            <a:r>
              <a:rPr lang="en-US" sz="3200" dirty="0">
                <a:latin typeface="Consolas"/>
              </a:rPr>
              <a:t> </a:t>
            </a:r>
            <a:r>
              <a:rPr lang="en-US" sz="3200" dirty="0" err="1">
                <a:latin typeface="Consolas"/>
              </a:rPr>
              <a:t>алгоритам</a:t>
            </a:r>
            <a:r>
              <a:rPr lang="en-US" sz="3200" dirty="0">
                <a:latin typeface="Consolas"/>
              </a:rPr>
              <a:t> е O(V²E), </a:t>
            </a:r>
            <a:r>
              <a:rPr lang="en-US" sz="3200" dirty="0" err="1">
                <a:latin typeface="Consolas"/>
              </a:rPr>
              <a:t>исто</a:t>
            </a:r>
            <a:r>
              <a:rPr lang="en-US" sz="3200" dirty="0">
                <a:latin typeface="Consolas"/>
              </a:rPr>
              <a:t> </a:t>
            </a:r>
            <a:r>
              <a:rPr lang="en-US" sz="3200" dirty="0" err="1">
                <a:latin typeface="Consolas"/>
              </a:rPr>
              <a:t>како</a:t>
            </a:r>
            <a:r>
              <a:rPr lang="en-US" sz="3200" dirty="0">
                <a:latin typeface="Consolas"/>
              </a:rPr>
              <a:t> </a:t>
            </a:r>
            <a:r>
              <a:rPr lang="en-US" sz="3200" dirty="0" err="1">
                <a:latin typeface="Consolas"/>
              </a:rPr>
              <a:t>алгоритмот</a:t>
            </a:r>
            <a:r>
              <a:rPr lang="en-US" sz="3200" dirty="0">
                <a:latin typeface="Consolas"/>
              </a:rPr>
              <a:t> </a:t>
            </a:r>
            <a:r>
              <a:rPr lang="en-US" sz="3200" dirty="0" err="1">
                <a:latin typeface="Consolas"/>
              </a:rPr>
              <a:t>на</a:t>
            </a:r>
            <a:r>
              <a:rPr lang="en-US" sz="3200" dirty="0">
                <a:latin typeface="Consolas"/>
              </a:rPr>
              <a:t> </a:t>
            </a:r>
            <a:r>
              <a:rPr lang="en-US" sz="3200" dirty="0" err="1">
                <a:latin typeface="Consolas"/>
              </a:rPr>
              <a:t>Dinic</a:t>
            </a:r>
            <a:r>
              <a:rPr lang="en-US" sz="3200" dirty="0">
                <a:latin typeface="Consolas"/>
              </a:rPr>
              <a:t>. Push-relabel е </a:t>
            </a:r>
            <a:r>
              <a:rPr lang="en-US" sz="3200" dirty="0" err="1">
                <a:latin typeface="Consolas"/>
              </a:rPr>
              <a:t>поефикасен</a:t>
            </a:r>
            <a:r>
              <a:rPr lang="en-US" sz="3200" dirty="0">
                <a:latin typeface="Consolas"/>
              </a:rPr>
              <a:t> </a:t>
            </a:r>
            <a:r>
              <a:rPr lang="en-US" sz="3200" dirty="0" err="1">
                <a:latin typeface="Consolas"/>
              </a:rPr>
              <a:t>од</a:t>
            </a:r>
            <a:r>
              <a:rPr lang="en-US" sz="3200" dirty="0">
                <a:latin typeface="Consolas"/>
              </a:rPr>
              <a:t> Edmonds-Karp, </a:t>
            </a:r>
            <a:r>
              <a:rPr lang="en-US" sz="3200" dirty="0" err="1">
                <a:latin typeface="Consolas"/>
              </a:rPr>
              <a:t>кој</a:t>
            </a:r>
            <a:r>
              <a:rPr lang="en-US" sz="3200" dirty="0">
                <a:latin typeface="Consolas"/>
              </a:rPr>
              <a:t> </a:t>
            </a:r>
            <a:r>
              <a:rPr lang="en-US" sz="3200" dirty="0" err="1">
                <a:latin typeface="Consolas"/>
              </a:rPr>
              <a:t>има</a:t>
            </a:r>
            <a:r>
              <a:rPr lang="en-US" sz="3200" dirty="0">
                <a:latin typeface="Consolas"/>
              </a:rPr>
              <a:t> </a:t>
            </a:r>
            <a:r>
              <a:rPr lang="en-US" sz="3200" dirty="0" err="1">
                <a:latin typeface="Consolas"/>
              </a:rPr>
              <a:t>комплексност</a:t>
            </a:r>
            <a:r>
              <a:rPr lang="en-US" sz="3200" dirty="0">
                <a:latin typeface="Consolas"/>
              </a:rPr>
              <a:t> O(VE²).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235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9375D52A-098B-1C2F-873E-48D767B30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37" y="-3539"/>
            <a:ext cx="6449786" cy="2279196"/>
          </a:xfrm>
          <a:prstGeom prst="rect">
            <a:avLst/>
          </a:prstGeom>
        </p:spPr>
      </p:pic>
      <p:pic>
        <p:nvPicPr>
          <p:cNvPr id="8" name="Picture 7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C888A7B7-6988-B0C2-7B05-8C44EC5AD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888" y="-2258"/>
            <a:ext cx="5754459" cy="2276475"/>
          </a:xfrm>
          <a:prstGeom prst="rect">
            <a:avLst/>
          </a:prstGeom>
        </p:spPr>
      </p:pic>
      <p:pic>
        <p:nvPicPr>
          <p:cNvPr id="9" name="Picture 8" descr="A computer screen shot of a black screen&#10;&#10;AI-generated content may be incorrect.">
            <a:extLst>
              <a:ext uri="{FF2B5EF4-FFF2-40B4-BE49-F238E27FC236}">
                <a16:creationId xmlns:a16="http://schemas.microsoft.com/office/drawing/2014/main" id="{36DC111D-69E1-B046-8616-8A324615D7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348" y="3526767"/>
            <a:ext cx="9074603" cy="3332389"/>
          </a:xfrm>
          <a:prstGeom prst="rect">
            <a:avLst/>
          </a:prstGeom>
        </p:spPr>
      </p:pic>
      <p:pic>
        <p:nvPicPr>
          <p:cNvPr id="10" name="Picture 9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88937B97-14BA-1CD5-7487-76D9A4A325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6183" y="3527908"/>
            <a:ext cx="3129643" cy="33269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744651-0D81-8163-2A54-63EF958601EA}"/>
              </a:ext>
            </a:extLst>
          </p:cNvPr>
          <p:cNvSpPr txBox="1"/>
          <p:nvPr/>
        </p:nvSpPr>
        <p:spPr>
          <a:xfrm>
            <a:off x="2732314" y="2544536"/>
            <a:ext cx="825953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 err="1">
                <a:latin typeface="Consolas"/>
                <a:ea typeface="Calibri"/>
                <a:cs typeface="Calibri"/>
              </a:rPr>
              <a:t>Код</a:t>
            </a:r>
            <a:r>
              <a:rPr lang="en-US" sz="3200" dirty="0">
                <a:latin typeface="Consolas"/>
                <a:ea typeface="Calibri"/>
                <a:cs typeface="Calibri"/>
              </a:rPr>
              <a:t> </a:t>
            </a:r>
            <a:r>
              <a:rPr lang="en-US" sz="3200" dirty="0" err="1">
                <a:latin typeface="Consolas"/>
                <a:ea typeface="Calibri"/>
                <a:cs typeface="Calibri"/>
              </a:rPr>
              <a:t>за</a:t>
            </a:r>
            <a:r>
              <a:rPr lang="en-US" sz="3200" dirty="0">
                <a:latin typeface="Consolas"/>
                <a:ea typeface="Calibri"/>
                <a:cs typeface="Calibri"/>
              </a:rPr>
              <a:t> push-relabel </a:t>
            </a:r>
            <a:r>
              <a:rPr lang="en-US" sz="3200" dirty="0" err="1">
                <a:latin typeface="Consolas"/>
                <a:ea typeface="Calibri"/>
                <a:cs typeface="Calibri"/>
              </a:rPr>
              <a:t>алгоритмот</a:t>
            </a:r>
          </a:p>
        </p:txBody>
      </p:sp>
    </p:spTree>
    <p:extLst>
      <p:ext uri="{BB962C8B-B14F-4D97-AF65-F5344CB8AC3E}">
        <p14:creationId xmlns:p14="http://schemas.microsoft.com/office/powerpoint/2010/main" val="747080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E4161-CFC9-F152-BF60-D65F95065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5504" y="5591451"/>
            <a:ext cx="5943600" cy="7622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 dirty="0" err="1">
                <a:latin typeface="Consolas"/>
              </a:rPr>
              <a:t>Изработил</a:t>
            </a:r>
            <a:r>
              <a:rPr lang="en-US" sz="3200" dirty="0">
                <a:latin typeface="Consolas"/>
              </a:rPr>
              <a:t>: </a:t>
            </a:r>
            <a:r>
              <a:rPr lang="en-US" sz="3200" dirty="0" err="1">
                <a:latin typeface="Consolas"/>
              </a:rPr>
              <a:t>Дамјан</a:t>
            </a:r>
            <a:r>
              <a:rPr lang="en-US" sz="3200" dirty="0">
                <a:latin typeface="Consolas"/>
              </a:rPr>
              <a:t> </a:t>
            </a:r>
            <a:r>
              <a:rPr lang="en-US" sz="3200" dirty="0" err="1">
                <a:latin typeface="Consolas"/>
              </a:rPr>
              <a:t>Давков</a:t>
            </a:r>
          </a:p>
        </p:txBody>
      </p:sp>
    </p:spTree>
    <p:extLst>
      <p:ext uri="{BB962C8B-B14F-4D97-AF65-F5344CB8AC3E}">
        <p14:creationId xmlns:p14="http://schemas.microsoft.com/office/powerpoint/2010/main" val="1705886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Push-relabel</vt:lpstr>
      <vt:lpstr>Опис на алгоритмот</vt:lpstr>
      <vt:lpstr>PowerPoint Presentation</vt:lpstr>
      <vt:lpstr>Споредба со други flow алгоритми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129</cp:revision>
  <dcterms:created xsi:type="dcterms:W3CDTF">2025-11-21T01:16:14Z</dcterms:created>
  <dcterms:modified xsi:type="dcterms:W3CDTF">2025-11-21T01:38:57Z</dcterms:modified>
</cp:coreProperties>
</file>